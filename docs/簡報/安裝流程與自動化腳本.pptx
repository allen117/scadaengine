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8FBCFF"/>
                </a:solidFill>
                <a:latin typeface="Microsoft Jheng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28016"/>
            <a:ext cx="8229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icrosoft JhengHei"/>
              </a:rPr>
              <a:t>安裝流程總覽 — 三個觸發點、三個自動化階段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30352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CFE2FF"/>
                </a:solidFill>
                <a:latin typeface="Microsoft JhengHei"/>
              </a:rPr>
              <a:t>ScadaEngine 資料庫安裝與維運自動化｜設計原則：安裝時特權與執行時權限分離，sa 密碼不落地任何設定檔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A53BE"/>
                </a:solidFill>
                <a:latin typeface="Microsoft JhengHei"/>
              </a:rPr>
              <a:t>A. 誰觸發 install-db.ps1？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1155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C757D"/>
                </a:solidFill>
                <a:latin typeface="Microsoft JhengHei"/>
              </a:rPr>
              <a:t>已綁進部署流程，一般情況不需手動執行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11880" cy="1170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0292" cy="117043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53619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D6EFD"/>
                </a:solidFill>
                <a:latin typeface="Microsoft JhengHei"/>
              </a:rPr>
              <a:t>現場 USB 安裝包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801368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12529"/>
                </a:solidFill>
                <a:latin typeface="Microsoft JhengHei"/>
              </a:rPr>
              <a:t>Install.bat 步驟 [4/6]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066543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>
                <a:solidFill>
                  <a:srgbClr val="6C757D"/>
                </a:solidFill>
                <a:latin typeface="Microsoft JhengHei"/>
              </a:rPr>
              <a:t>在還原現場設定「之後」執行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>
                <a:solidFill>
                  <a:srgbClr val="6C757D"/>
                </a:solidFill>
                <a:latin typeface="Microsoft JhengHei"/>
              </a:rPr>
              <a:t>確保讀到現場的 dbSetting.json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611880" cy="1170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50292" cy="117043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53619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D6EFD"/>
                </a:solidFill>
                <a:latin typeface="Microsoft JhengHei"/>
              </a:rPr>
              <a:t>開發機部署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801368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12529"/>
                </a:solidFill>
                <a:latin typeface="Microsoft JhengHei"/>
              </a:rPr>
              <a:t>QuickDeploy.bat 選項 1 /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066543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>
                <a:solidFill>
                  <a:srgbClr val="6C757D"/>
                </a:solidFill>
                <a:latin typeface="Microsoft JhengHei"/>
              </a:rPr>
              <a:t>Install 與 Update 皆呼叫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>
                <a:solidFill>
                  <a:srgbClr val="6C757D"/>
                </a:solidFill>
                <a:latin typeface="Microsoft JhengHei"/>
              </a:rPr>
              <a:t>DeployService.ps1 → Invoke-DbSetup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417320"/>
            <a:ext cx="3611880" cy="1170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417320"/>
            <a:ext cx="50292" cy="1170432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53619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6C757D"/>
                </a:solidFill>
                <a:latin typeface="Microsoft JhengHei"/>
              </a:rPr>
              <a:t>手動補跑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1801368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12529"/>
                </a:solidFill>
                <a:latin typeface="Microsoft JhengHei"/>
              </a:rPr>
              <a:t>系統管理員身分執行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066543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>
                <a:solidFill>
                  <a:srgbClr val="6C757D"/>
                </a:solidFill>
                <a:latin typeface="Microsoft JhengHei"/>
              </a:rPr>
              <a:t>C:\Scada\Engine\App\Setting\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>
                <a:solidFill>
                  <a:srgbClr val="6C757D"/>
                </a:solidFill>
                <a:latin typeface="Microsoft JhengHei"/>
              </a:rPr>
              <a:t>install-db.ps1（idempotent）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670048"/>
            <a:ext cx="11183112" cy="384048"/>
          </a:xfrm>
          <a:prstGeom prst="roundRect">
            <a:avLst>
              <a:gd name="adj" fmla="val 35000"/>
            </a:avLst>
          </a:prstGeom>
          <a:solidFill>
            <a:srgbClr val="FFF3CD"/>
          </a:solidFill>
          <a:ln w="12700">
            <a:solidFill>
              <a:srgbClr val="FFE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74320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A6200"/>
                </a:solidFill>
                <a:latin typeface="Microsoft JhengHei"/>
              </a:rPr>
              <a:t>⚠ 腳本失敗不中斷部署</a:t>
            </a:r>
            <a:r>
              <a:rPr sz="1000" b="0">
                <a:solidFill>
                  <a:srgbClr val="212529"/>
                </a:solidFill>
                <a:latin typeface="Microsoft JhengHei"/>
              </a:rPr>
              <a:t>　只印警告與重跑指令。Engine 啟動安全網會兜底建 DB，但</a:t>
            </a:r>
            <a:r>
              <a:rPr sz="1000" b="1">
                <a:solidFill>
                  <a:srgbClr val="DC3545"/>
                </a:solidFill>
                <a:latin typeface="Microsoft JhengHei"/>
              </a:rPr>
              <a:t>備份資料夾與 SQL 服務帳號 ACL 只有此腳本會建</a:t>
            </a:r>
            <a:r>
              <a:rPr sz="1000" b="0">
                <a:solidFill>
                  <a:srgbClr val="212529"/>
                </a:solidFill>
                <a:latin typeface="Microsoft JhengHei"/>
              </a:rPr>
              <a:t>　→ 失敗務必補跑，否則每週備份會靜默失敗。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246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A53BE"/>
                </a:solidFill>
                <a:latin typeface="Microsoft JhengHei"/>
              </a:rPr>
              <a:t>B. 自動化的三個階段與所需權限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61188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611880"/>
            <a:ext cx="3611880" cy="384048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368503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安裝期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3739896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一次性 · 人工執行一次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" y="4114800"/>
            <a:ext cx="3282696" cy="274320"/>
          </a:xfrm>
          <a:prstGeom prst="roundRect">
            <a:avLst>
              <a:gd name="adj" fmla="val 12000"/>
            </a:avLst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/>
            <a:r>
              <a:rPr sz="950">
                <a:solidFill>
                  <a:srgbClr val="DC3545"/>
                </a:solidFill>
                <a:latin typeface="Consolas"/>
              </a:rPr>
              <a:t>install-db.ps1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4517136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DC3545"/>
                </a:solidFill>
                <a:latin typeface="Microsoft JhengHei"/>
              </a:rPr>
              <a:t>▪ </a:t>
            </a:r>
            <a:r>
              <a:rPr sz="1000" b="0">
                <a:solidFill>
                  <a:srgbClr val="212529"/>
                </a:solidFill>
                <a:latin typeface="Microsoft JhengHei"/>
              </a:rPr>
              <a:t>資料夾 + SQL 服務帳號 ACL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DC3545"/>
                </a:solidFill>
                <a:latin typeface="Microsoft JhengHei"/>
              </a:rPr>
              <a:t>▪ </a:t>
            </a:r>
            <a:r>
              <a:rPr sz="1000" b="0">
                <a:solidFill>
                  <a:srgbClr val="212529"/>
                </a:solidFill>
                <a:latin typeface="Microsoft JhengHei"/>
              </a:rPr>
              <a:t>建 DB（RECOVERY SIMPLE）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DC3545"/>
                </a:solidFill>
                <a:latin typeface="Microsoft JhengHei"/>
              </a:rPr>
              <a:t>▪ </a:t>
            </a:r>
            <a:r>
              <a:rPr sz="1000" b="0">
                <a:solidFill>
                  <a:srgbClr val="212529"/>
                </a:solidFill>
                <a:latin typeface="Microsoft JhengHei"/>
              </a:rPr>
              <a:t>建 login 並授 db_owner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DC3545"/>
                </a:solidFill>
                <a:latin typeface="Microsoft JhengHei"/>
              </a:rPr>
              <a:t>▪ </a:t>
            </a:r>
            <a:r>
              <a:rPr sz="1000" b="0">
                <a:solidFill>
                  <a:srgbClr val="212529"/>
                </a:solidFill>
                <a:latin typeface="Microsoft JhengHei"/>
              </a:rPr>
              <a:t>engineer bootstrap 帳號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" y="5632704"/>
            <a:ext cx="3282696" cy="10972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724144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Microsoft JhengHei"/>
              </a:rPr>
              <a:t>需要權限　</a:t>
            </a:r>
            <a:r>
              <a:rPr sz="950" b="1">
                <a:solidFill>
                  <a:srgbClr val="DC3545"/>
                </a:solidFill>
                <a:latin typeface="Microsoft JhengHei"/>
              </a:rPr>
              <a:t>sysadmin + 本機系統管理員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61188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3611880"/>
            <a:ext cx="3611880" cy="38404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8848" y="368503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啟動期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3739896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每次啟動 · Engine / Web 共用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62272" y="4114800"/>
            <a:ext cx="3282696" cy="27432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/>
            <a:r>
              <a:rPr sz="950">
                <a:solidFill>
                  <a:srgbClr val="0D6EFD"/>
                </a:solidFill>
                <a:latin typeface="Consolas"/>
              </a:rPr>
              <a:t>EnsureDatabaseExistsAsync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7136" y="4517136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0D6EFD"/>
                </a:solidFill>
                <a:latin typeface="Microsoft JhengHei"/>
              </a:rPr>
              <a:t>▪ </a:t>
            </a:r>
            <a:r>
              <a:rPr sz="1000" b="0">
                <a:solidFill>
                  <a:srgbClr val="212529"/>
                </a:solidFill>
                <a:latin typeface="Microsoft JhengHei"/>
              </a:rPr>
              <a:t>DB 不存在時自動建（安全網）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0D6EFD"/>
                </a:solidFill>
                <a:latin typeface="Microsoft JhengHei"/>
              </a:rPr>
              <a:t>▪ </a:t>
            </a:r>
            <a:r>
              <a:rPr sz="1000" b="0">
                <a:solidFill>
                  <a:srgbClr val="212529"/>
                </a:solidFill>
                <a:latin typeface="Microsoft JhengHei"/>
              </a:rPr>
              <a:t>依 DatabaseSchema.json 建表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0D6EFD"/>
                </a:solidFill>
                <a:latin typeface="Microsoft JhengHei"/>
              </a:rPr>
              <a:t>▪ </a:t>
            </a:r>
            <a:r>
              <a:rPr sz="1000" b="0">
                <a:solidFill>
                  <a:srgbClr val="212529"/>
                </a:solidFill>
                <a:latin typeface="Microsoft JhengHei"/>
              </a:rPr>
              <a:t>欄位自動補齊（只加不減不改）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0D6EFD"/>
                </a:solidFill>
                <a:latin typeface="Microsoft JhengHei"/>
              </a:rPr>
              <a:t>▪ </a:t>
            </a:r>
            <a:r>
              <a:rPr sz="1000" b="0">
                <a:solidFill>
                  <a:srgbClr val="212529"/>
                </a:solidFill>
                <a:latin typeface="Microsoft JhengHei"/>
              </a:rPr>
              <a:t>無權限則優雅降級不 crash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62272" y="5632704"/>
            <a:ext cx="3282696" cy="10972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98848" y="5724144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Microsoft JhengHei"/>
              </a:rPr>
              <a:t>需要權限　</a:t>
            </a:r>
            <a:r>
              <a:rPr sz="950" b="1">
                <a:solidFill>
                  <a:srgbClr val="0D6EFD"/>
                </a:solidFill>
                <a:latin typeface="Microsoft JhengHei"/>
              </a:rPr>
              <a:t>dbcreator（建 DB）／db_owner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2440" y="361188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92440" y="3611880"/>
            <a:ext cx="3611880" cy="384048"/>
          </a:xfrm>
          <a:prstGeom prst="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93608" y="368503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執行期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739896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每週 · Engine 背景服務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57032" y="4114800"/>
            <a:ext cx="3282696" cy="27432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/>
            <a:r>
              <a:rPr sz="950">
                <a:solidFill>
                  <a:srgbClr val="198754"/>
                </a:solidFill>
                <a:latin typeface="Consolas"/>
              </a:rPr>
              <a:t>DatabaseBackupService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1896" y="4517136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198754"/>
                </a:solidFill>
                <a:latin typeface="Microsoft JhengHei"/>
              </a:rPr>
              <a:t>▪ </a:t>
            </a:r>
            <a:r>
              <a:rPr sz="1000" b="0">
                <a:solidFill>
                  <a:srgbClr val="212529"/>
                </a:solidFill>
                <a:latin typeface="Microsoft JhengHei"/>
              </a:rPr>
              <a:t>純 T-SQL BACKUP DATABASE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198754"/>
                </a:solidFill>
                <a:latin typeface="Microsoft JhengHei"/>
              </a:rPr>
              <a:t>▪ </a:t>
            </a:r>
            <a:r>
              <a:rPr sz="1000" b="0">
                <a:solidFill>
                  <a:srgbClr val="212529"/>
                </a:solidFill>
                <a:latin typeface="Microsoft JhengHei"/>
              </a:rPr>
              <a:t>不依賴 SQL Server Agent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198754"/>
                </a:solidFill>
                <a:latin typeface="Microsoft JhengHei"/>
              </a:rPr>
              <a:t>▪ </a:t>
            </a:r>
            <a:r>
              <a:rPr sz="1000" b="0">
                <a:solidFill>
                  <a:srgbClr val="212529"/>
                </a:solidFill>
                <a:latin typeface="Microsoft JhengHei"/>
              </a:rPr>
              <a:t>A / B 兩檔輪替覆寫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198754"/>
                </a:solidFill>
                <a:latin typeface="Microsoft JhengHei"/>
              </a:rPr>
              <a:t>▪ </a:t>
            </a:r>
            <a:r>
              <a:rPr sz="1000" b="0">
                <a:solidFill>
                  <a:srgbClr val="212529"/>
                </a:solidFill>
                <a:latin typeface="Microsoft JhengHei"/>
              </a:rPr>
              <a:t>結果寫 EventLog 可於 Web 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57032" y="5632704"/>
            <a:ext cx="3282696" cy="10972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93608" y="5724144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Microsoft JhengHei"/>
              </a:rPr>
              <a:t>需要權限　</a:t>
            </a:r>
            <a:r>
              <a:rPr sz="950" b="1">
                <a:solidFill>
                  <a:srgbClr val="198754"/>
                </a:solidFill>
                <a:latin typeface="Microsoft JhengHei"/>
              </a:rPr>
              <a:t>db_owner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1908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6C757D"/>
                </a:solidFill>
                <a:latin typeface="Microsoft JhengHei"/>
              </a:rPr>
              <a:t>來源：ScadaEngine.Engine/Setting/install-db.ps1、Scripts/DeployService.ps1、BuildRelease.ps1、Data/Services/DatabaseInitializationService.cs｜細節見 docs/功能說明書_資料庫自動建立與備份.md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8FBCFF"/>
                </a:solidFill>
                <a:latin typeface="Microsoft Jheng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28016"/>
            <a:ext cx="8229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icrosoft JhengHei"/>
              </a:rPr>
              <a:t>install-db.ps1 — 四個步驟與自動化程度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30352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CFE2FF"/>
                </a:solidFill>
                <a:latin typeface="Microsoft JhengHei"/>
              </a:rPr>
              <a:t>idempotent 可重複執行｜以執行者 Windows 帳號走 Integrated Security 連線，全程不需 sa 密碼｜參數不給時自動讀同資料夾設定檔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60704"/>
            <a:ext cx="2729484" cy="36484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60704"/>
            <a:ext cx="2729484" cy="45720"/>
          </a:xfrm>
          <a:prstGeom prst="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887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98754"/>
                </a:solidFill>
                <a:latin typeface="Microsoft JhengHei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261872"/>
            <a:ext cx="19979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12529"/>
                </a:solidFill>
                <a:latin typeface="Microsoft JhengHei"/>
              </a:rPr>
              <a:t>資料夾與檔案權限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1572768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604772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198754"/>
                </a:solidFill>
                <a:latin typeface="Microsoft JhengHei"/>
              </a:rPr>
              <a:t>全自動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75104"/>
            <a:ext cx="236372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50" b="1">
                <a:solidFill>
                  <a:srgbClr val="198754"/>
                </a:solidFill>
                <a:latin typeface="Microsoft JhengHei"/>
              </a:rPr>
              <a:t>▪ </a:t>
            </a:r>
            <a:r>
              <a:rPr sz="950" b="0">
                <a:solidFill>
                  <a:srgbClr val="212529"/>
                </a:solidFill>
                <a:latin typeface="Microsoft JhengHei"/>
              </a:rPr>
              <a:t>偵測 SQL 服務帳號：預設實例 MSSQLSERVER、具名實例 MSSQL$實例名；指定服務名找不到時自動掃描本機唯一 SQL 實例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50" b="1">
                <a:solidFill>
                  <a:srgbClr val="198754"/>
                </a:solidFill>
                <a:latin typeface="Microsoft JhengHei"/>
              </a:rPr>
              <a:t>▪ </a:t>
            </a:r>
            <a:r>
              <a:rPr sz="950" b="0">
                <a:solidFill>
                  <a:srgbClr val="212529"/>
                </a:solidFill>
                <a:latin typeface="Microsoft JhengHei"/>
              </a:rPr>
              <a:t>建立 C:\Scada\Database 與 C:\Scada\Backup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50" b="1">
                <a:solidFill>
                  <a:srgbClr val="198754"/>
                </a:solidFill>
                <a:latin typeface="Microsoft JhengHei"/>
              </a:rPr>
              <a:t>▪ </a:t>
            </a:r>
            <a:r>
              <a:rPr sz="950" b="0">
                <a:solidFill>
                  <a:srgbClr val="212529"/>
                </a:solidFill>
                <a:latin typeface="Microsoft JhengHei"/>
              </a:rPr>
              <a:t>icacls /grant "服務帳號:(OI)(CI)M" 授予修改權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114800"/>
            <a:ext cx="2363724" cy="10972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23637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6C757D"/>
                </a:solidFill>
                <a:latin typeface="Microsoft JhengHei"/>
              </a:rPr>
              <a:t>CREATE DATABASE / BACKUP 的檔案 I/O 由 SQL 服務進程執行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1060704"/>
            <a:ext cx="2729484" cy="36484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5848" y="1060704"/>
            <a:ext cx="2729484" cy="45720"/>
          </a:xfrm>
          <a:prstGeom prst="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11887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98754"/>
                </a:solidFill>
                <a:latin typeface="Microsoft JhengHei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4488" y="1261872"/>
            <a:ext cx="19979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12529"/>
                </a:solidFill>
                <a:latin typeface="Microsoft JhengHei"/>
              </a:rPr>
              <a:t>建立資料庫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04488" y="1572768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4488" y="1604772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198754"/>
                </a:solidFill>
                <a:latin typeface="Microsoft JhengHei"/>
              </a:rPr>
              <a:t>全自動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1975104"/>
            <a:ext cx="236372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50" b="1">
                <a:solidFill>
                  <a:srgbClr val="198754"/>
                </a:solidFill>
                <a:latin typeface="Microsoft JhengHei"/>
              </a:rPr>
              <a:t>▪ </a:t>
            </a:r>
            <a:r>
              <a:rPr sz="950" b="0">
                <a:solidFill>
                  <a:srgbClr val="212529"/>
                </a:solidFill>
                <a:latin typeface="Microsoft JhengHei"/>
              </a:rPr>
              <a:t>不存在 → CREATE DATABASE 指定 mdf / ldf 路徑，並 SET RECOVERY SIMPLE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50" b="1">
                <a:solidFill>
                  <a:srgbClr val="198754"/>
                </a:solidFill>
                <a:latin typeface="Microsoft JhengHei"/>
              </a:rPr>
              <a:t>▪ </a:t>
            </a:r>
            <a:r>
              <a:rPr sz="950" b="0">
                <a:solidFill>
                  <a:srgbClr val="212529"/>
                </a:solidFill>
                <a:latin typeface="Microsoft JhengHei"/>
              </a:rPr>
              <a:t>已存在 → 跳過建立，完全不動既有 DB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50" b="1">
                <a:solidFill>
                  <a:srgbClr val="198754"/>
                </a:solidFill>
                <a:latin typeface="Microsoft JhengHei"/>
              </a:rPr>
              <a:t>▪ </a:t>
            </a:r>
            <a:r>
              <a:rPr sz="950" b="0">
                <a:solidFill>
                  <a:srgbClr val="212529"/>
                </a:solidFill>
                <a:latin typeface="Microsoft JhengHei"/>
              </a:rPr>
              <a:t>FULL 復原模式 → 只印警告與建議指令，由現場 DBA 決定是否切換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38728" y="4114800"/>
            <a:ext cx="2363724" cy="10972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8728" y="4206240"/>
            <a:ext cx="23637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6C757D"/>
                </a:solidFill>
                <a:latin typeface="Microsoft JhengHei"/>
              </a:rPr>
              <a:t>本系統只做每週完整備份、不做交易記錄備份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8776" y="1060704"/>
            <a:ext cx="2729484" cy="36484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8776" y="1060704"/>
            <a:ext cx="2729484" cy="45720"/>
          </a:xfrm>
          <a:prstGeom prst="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11887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98754"/>
                </a:solidFill>
                <a:latin typeface="Microsoft JhengHei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7416" y="1261872"/>
            <a:ext cx="19979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12529"/>
                </a:solidFill>
                <a:latin typeface="Microsoft JhengHei"/>
              </a:rPr>
              <a:t>應用程式 SQL 帳號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57416" y="1572768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57416" y="1604772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198754"/>
                </a:solidFill>
                <a:latin typeface="Microsoft JhengHei"/>
              </a:rPr>
              <a:t>全自動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1975104"/>
            <a:ext cx="236372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50" b="1">
                <a:solidFill>
                  <a:srgbClr val="198754"/>
                </a:solidFill>
                <a:latin typeface="Microsoft JhengHei"/>
              </a:rPr>
              <a:t>▪ </a:t>
            </a:r>
            <a:r>
              <a:rPr sz="950" b="0">
                <a:solidFill>
                  <a:srgbClr val="212529"/>
                </a:solidFill>
                <a:latin typeface="Microsoft JhengHei"/>
              </a:rPr>
              <a:t>讀 dbSetting.json 的帳號 / 密碼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50" b="1">
                <a:solidFill>
                  <a:srgbClr val="198754"/>
                </a:solidFill>
                <a:latin typeface="Microsoft JhengHei"/>
              </a:rPr>
              <a:t>▪ </a:t>
            </a:r>
            <a:r>
              <a:rPr sz="950" b="0">
                <a:solidFill>
                  <a:srgbClr val="212529"/>
                </a:solidFill>
                <a:latin typeface="Microsoft JhengHei"/>
              </a:rPr>
              <a:t>CREATE LOGIN（CHECK_POLICY = OFF）→ CREATE USER FOR LOGIN → ALTER ROLE db_owner ADD MEMBER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50" b="1">
                <a:solidFill>
                  <a:srgbClr val="198754"/>
                </a:solidFill>
                <a:latin typeface="Microsoft JhengHei"/>
              </a:rPr>
              <a:t>▪ </a:t>
            </a:r>
            <a:r>
              <a:rPr sz="950" b="0">
                <a:solidFill>
                  <a:srgbClr val="212529"/>
                </a:solidFill>
                <a:latin typeface="Microsoft JhengHei"/>
              </a:rPr>
              <a:t>已存在則跳過，重跑不覆寫密碼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91656" y="4114800"/>
            <a:ext cx="2363724" cy="10972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1656" y="4206240"/>
            <a:ext cx="23637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6C757D"/>
                </a:solidFill>
                <a:latin typeface="Microsoft JhengHei"/>
              </a:rPr>
              <a:t>dbSetting.json 無密碼時跳過並警告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61704" y="1060704"/>
            <a:ext cx="2729484" cy="36484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61704" y="1060704"/>
            <a:ext cx="2729484" cy="457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26296" y="11887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C107"/>
                </a:solidFill>
                <a:latin typeface="Microsoft JhengHei"/>
              </a:rPr>
              <a:t>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10344" y="1261872"/>
            <a:ext cx="19979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12529"/>
                </a:solidFill>
                <a:latin typeface="Microsoft JhengHei"/>
              </a:rPr>
              <a:t>engineer bootstrap 帳號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10344" y="1572768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10344" y="1604772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8A6200"/>
                </a:solidFill>
                <a:latin typeface="Microsoft JhengHei"/>
              </a:rPr>
              <a:t>半自動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44584" y="1975104"/>
            <a:ext cx="236372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50" b="1">
                <a:solidFill>
                  <a:srgbClr val="FFC107"/>
                </a:solidFill>
                <a:latin typeface="Microsoft JhengHei"/>
              </a:rPr>
              <a:t>▪ </a:t>
            </a:r>
            <a:r>
              <a:rPr sz="950" b="0">
                <a:solidFill>
                  <a:srgbClr val="212529"/>
                </a:solidFill>
                <a:latin typeface="Microsoft JhengHei"/>
              </a:rPr>
              <a:t>Users 表不存在 → 依 DatabaseSchema.json 預建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50" b="1">
                <a:solidFill>
                  <a:srgbClr val="FFC107"/>
                </a:solidFill>
                <a:latin typeface="Microsoft JhengHei"/>
              </a:rPr>
              <a:t>▪ </a:t>
            </a:r>
            <a:r>
              <a:rPr sz="950" b="0">
                <a:solidFill>
                  <a:srgbClr val="212529"/>
                </a:solidFill>
                <a:latin typeface="Microsoft JhengHei"/>
              </a:rPr>
              <a:t>DB 內已有任一 Engineer 角色帳號（含停用）→ 跳過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50" b="1">
                <a:solidFill>
                  <a:srgbClr val="FFC107"/>
                </a:solidFill>
                <a:latin typeface="Microsoft JhengHei"/>
              </a:rPr>
              <a:t>▪ </a:t>
            </a:r>
            <a:r>
              <a:rPr sz="950" b="0">
                <a:solidFill>
                  <a:srgbClr val="212529"/>
                </a:solidFill>
                <a:latin typeface="Microsoft JhengHei"/>
              </a:rPr>
              <a:t>密碼來源：-EngineerPassword 參數，或 console 互動輸入（遮罩、兩次核對、≥ 8 碼、3 次重試）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50" b="1">
                <a:solidFill>
                  <a:srgbClr val="FFC107"/>
                </a:solidFill>
                <a:latin typeface="Microsoft JhengHei"/>
              </a:rPr>
              <a:t>▪ </a:t>
            </a:r>
            <a:r>
              <a:rPr sz="950" b="0">
                <a:solidFill>
                  <a:srgbClr val="212529"/>
                </a:solidFill>
                <a:latin typeface="Microsoft JhengHei"/>
              </a:rPr>
              <a:t>寫入 SHA256(UTF8) 小寫 hex，與 Web 登入一致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44584" y="4114800"/>
            <a:ext cx="2363724" cy="10972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44584" y="4206240"/>
            <a:ext cx="23637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6C757D"/>
                </a:solidFill>
                <a:latin typeface="Microsoft JhengHei"/>
              </a:rPr>
              <a:t>非互動環境且未帶參數 → 跳過並警告，不建帳號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892040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010912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53BE"/>
                </a:solidFill>
                <a:latin typeface="Microsoft JhengHei"/>
              </a:rPr>
              <a:t>SSPI 連線的一個現場坑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312664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212529"/>
                </a:solidFill>
                <a:latin typeface="Microsoft JhengHei"/>
              </a:rPr>
              <a:t>位址是 IP 時 SSPI 查不到 SPN 會退回 NTLM，工作群組環境就報「登入來自未信任的網域」。腳本因此在本機情境自動把連線目標改走實例名（shared memory）：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1">
                <a:solidFill>
                  <a:srgbClr val="0A53BE"/>
                </a:solidFill>
                <a:latin typeface="Consolas"/>
              </a:rPr>
              <a:t>MSSQLSERVER → "."　／　MSSQL$XYZ → ".\XYZ"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212529"/>
                </a:solidFill>
                <a:latin typeface="Microsoft JhengHei"/>
              </a:rPr>
              <a:t>SQL 驗證（應用帳號）不經此協商，dbSetting.json 的 IP 位址不需要改。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53912" y="4892040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12700">
            <a:solidFill>
              <a:srgbClr val="FFE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36792" y="5010912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8A6200"/>
                </a:solidFill>
                <a:latin typeface="Microsoft JhengHei"/>
              </a:rPr>
              <a:t>自動化到不了的三個邊界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6792" y="5312664"/>
            <a:ext cx="5166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1">
                <a:solidFill>
                  <a:srgbClr val="8A6200"/>
                </a:solidFill>
                <a:latin typeface="Microsoft JhengHei"/>
              </a:rPr>
              <a:t>▪ </a:t>
            </a:r>
            <a:r>
              <a:rPr sz="950" b="1">
                <a:solidFill>
                  <a:srgbClr val="212529"/>
                </a:solidFill>
                <a:latin typeface="Microsoft JhengHei"/>
              </a:rPr>
              <a:t>前置權限　</a:t>
            </a:r>
            <a:r>
              <a:rPr sz="950" b="0">
                <a:solidFill>
                  <a:srgbClr val="212529"/>
                </a:solidFill>
                <a:latin typeface="Microsoft JhengHei"/>
              </a:rPr>
              <a:t>執行者 Windows 帳號須為 SQL sysadmin（安裝 SQL Server 的帳號預設即是）+ 本機系統管理員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1">
                <a:solidFill>
                  <a:srgbClr val="8A6200"/>
                </a:solidFill>
                <a:latin typeface="Microsoft JhengHei"/>
              </a:rPr>
              <a:t>▪ </a:t>
            </a:r>
            <a:r>
              <a:rPr sz="950" b="1">
                <a:solidFill>
                  <a:srgbClr val="212529"/>
                </a:solidFill>
                <a:latin typeface="Microsoft JhengHei"/>
              </a:rPr>
              <a:t>SQL Server 本體　</a:t>
            </a:r>
            <a:r>
              <a:rPr sz="950" b="0">
                <a:solidFill>
                  <a:srgbClr val="212529"/>
                </a:solidFill>
                <a:latin typeface="Microsoft JhengHei"/>
              </a:rPr>
              <a:t>腳本不安裝 SQL Server，須事先裝好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1">
                <a:solidFill>
                  <a:srgbClr val="8A6200"/>
                </a:solidFill>
                <a:latin typeface="Microsoft JhengHei"/>
              </a:rPr>
              <a:t>▪ </a:t>
            </a:r>
            <a:r>
              <a:rPr sz="950" b="1">
                <a:solidFill>
                  <a:srgbClr val="212529"/>
                </a:solidFill>
                <a:latin typeface="Microsoft JhengHei"/>
              </a:rPr>
              <a:t>遠端 DB 主機　</a:t>
            </a:r>
            <a:r>
              <a:rPr sz="950" b="0">
                <a:solidFill>
                  <a:srgbClr val="212529"/>
                </a:solidFill>
                <a:latin typeface="Microsoft JhengHei"/>
              </a:rPr>
              <a:t>本機找不到 SQL 服務只印警告；資料夾與 ACL 須於 DB 那台自行建立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1908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6C757D"/>
                </a:solidFill>
                <a:latin typeface="Microsoft JhengHei"/>
              </a:rPr>
              <a:t>來源：ScadaEngine.Engine/Setting/install-db.ps1（L43-258）｜忘記 engineer 密碼走 Release 包根目錄的 reset-engineer-password.ps1，該工具刻意不落地伺服器，DeployService.ps1 部署時會主動刪除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8FBCFF"/>
                </a:solidFill>
                <a:latin typeface="Microsoft Jheng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28016"/>
            <a:ext cx="8229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icrosoft JhengHei"/>
              </a:rPr>
              <a:t>執行期自動化 — 啟動安全網與每週備份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30352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CFE2FF"/>
                </a:solidFill>
                <a:latin typeface="Microsoft JhengHei"/>
              </a:rPr>
              <a:t>Engine / Web 啟動時的建 DB 降級策略｜DatabaseBackupService 每週備份機制與運維邊界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42415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A53BE"/>
                </a:solidFill>
                <a:latin typeface="Microsoft JhengHei"/>
              </a:rPr>
              <a:t>A. 自動建 DB 安全網　</a:t>
            </a:r>
            <a:r>
              <a:rPr sz="1000" b="0">
                <a:solidFill>
                  <a:srgbClr val="6C757D"/>
                </a:solidFill>
                <a:latin typeface="Consolas"/>
              </a:rPr>
              <a:t>EnsureDatabaseExistsAsync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3212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45720" cy="658368"/>
          </a:xfrm>
          <a:prstGeom prst="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81328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198754"/>
                </a:solidFill>
                <a:latin typeface="Microsoft JhengHei"/>
              </a:rPr>
              <a:t>DB 存在且可開啟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212529"/>
                </a:solidFill>
                <a:latin typeface="Microsoft JhengHei"/>
              </a:rPr>
              <a:t>直接通過，既有環境零額外負擔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21408"/>
            <a:ext cx="553212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121408"/>
            <a:ext cx="45720" cy="65836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31136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FC107"/>
                </a:solidFill>
                <a:latin typeface="Microsoft JhengHei"/>
              </a:rPr>
              <a:t>DB 存在但帳號開不了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46888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212529"/>
                </a:solidFill>
                <a:latin typeface="Microsoft JhengHei"/>
              </a:rPr>
              <a:t>log 錯誤 + 修復指引，中止初始化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71216"/>
            <a:ext cx="553212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871216"/>
            <a:ext cx="45720" cy="65836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98094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D6EFD"/>
                </a:solidFill>
                <a:latin typeface="Microsoft JhengHei"/>
              </a:rPr>
              <a:t>DB 不存在、帳號有 dbcreator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21868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212529"/>
                </a:solidFill>
                <a:latin typeface="Microsoft JhengHei"/>
              </a:rPr>
              <a:t>自動建於 DataFileFolder + RECOVERY SIMPLE；路徑失敗退 SQL 預設路徑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21024"/>
            <a:ext cx="553212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621024"/>
            <a:ext cx="45720" cy="658368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730752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DC3545"/>
                </a:solidFill>
                <a:latin typeface="Microsoft JhengHei"/>
              </a:rPr>
              <a:t>DB 不存在、帳號無權限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96849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212529"/>
                </a:solidFill>
                <a:latin typeface="Microsoft JhengHei"/>
              </a:rPr>
              <a:t>log「請執行 install-db.ps1 或請 DBA 建立」，中止初始化但不 crash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43984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C757D"/>
                </a:solidFill>
                <a:latin typeface="Microsoft JhengHei"/>
              </a:rPr>
              <a:t>降級不造成長期功能缺失：DBA 一次性建好 DB 後，建表 / 補欄位 / 備份全部只需 db_owner。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1042415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A53BE"/>
                </a:solidFill>
                <a:latin typeface="Microsoft JhengHei"/>
              </a:rPr>
              <a:t>B. 每週自動備份　</a:t>
            </a:r>
            <a:r>
              <a:rPr sz="1000" b="0">
                <a:solidFill>
                  <a:srgbClr val="6C757D"/>
                </a:solidFill>
                <a:latin typeface="Consolas"/>
              </a:rPr>
              <a:t>DatabaseBackupService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3912" y="1371600"/>
            <a:ext cx="55321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517904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D6EFD"/>
                </a:solidFill>
                <a:latin typeface="Microsoft JhengHei"/>
              </a:rPr>
              <a:t>排程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1517904"/>
            <a:ext cx="4114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212529"/>
                </a:solidFill>
                <a:latin typeface="Microsoft JhengHei"/>
              </a:rPr>
              <a:t>預設週日 03:00，主迴圈每 30 秒檢查是否到點。設定於 DbMaintenanceSetting.json：BackupEnabled / BackupDayOfWeek / BackupTime — 只能設「星期幾 + 幾點」，改設定需重啟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066544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D6EFD"/>
                </a:solidFill>
                <a:latin typeface="Microsoft JhengHei"/>
              </a:rPr>
              <a:t>檔案輪替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4072" y="2066544"/>
            <a:ext cx="4114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212529"/>
                </a:solidFill>
                <a:latin typeface="Microsoft JhengHei"/>
              </a:rPr>
              <a:t>{DB名}_A.bak / {DB名}_B.bak 交替 WITH INIT 覆寫（先寫不存在者，兩檔都在則覆寫較舊者）→ 恆保留「本次 + 上一次」兩份，磁碟用量可預測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615184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D6EFD"/>
                </a:solidFill>
                <a:latin typeface="Microsoft JhengHei"/>
              </a:rPr>
              <a:t>壓縮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4072" y="2615184"/>
            <a:ext cx="4114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212529"/>
                </a:solidFill>
                <a:latin typeface="Microsoft JhengHei"/>
              </a:rPr>
              <a:t>查 SERVERPROPERTY('EngineEdition')：Standard / Enterprise 加 WITH COMPRESSION，Express 不支援則略過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163824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D6EFD"/>
                </a:solidFill>
                <a:latin typeface="Microsoft JhengHei"/>
              </a:rPr>
              <a:t>失敗重試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34072" y="3163824"/>
            <a:ext cx="4114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212529"/>
                </a:solidFill>
                <a:latin typeface="Microsoft JhengHei"/>
              </a:rPr>
              <a:t>當日內每小時重試；跨日則等下週。Engine 於排定時間停機 → 該週略過，啟動自檢發現最新備份逾 8 天會 log 警告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712464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D6EFD"/>
                </a:solidFill>
                <a:latin typeface="Microsoft JhengHei"/>
              </a:rPr>
              <a:t>結果可見性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4072" y="3712464"/>
            <a:ext cx="4114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212529"/>
                </a:solidFill>
                <a:latin typeface="Microsoft JhengHei"/>
              </a:rPr>
              <a:t>成功 / 失敗各寫一筆 EventLog（EventType=3、SID=_system；成功 Severity=3、失敗 Severity=2），Web 事件紀錄頁可查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4334256"/>
            <a:ext cx="5120640" cy="329184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/>
            <a:r>
              <a:rPr sz="850">
                <a:solidFill>
                  <a:srgbClr val="0A53BE"/>
                </a:solidFill>
                <a:latin typeface="Consolas"/>
              </a:rPr>
              <a:t>RESTORE DATABASE [wsnCsharp] FROM DISK = N'...\wsnCsharp_A.bak' WITH REPLACE;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6908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6C757D"/>
                </a:solidFill>
                <a:latin typeface="Microsoft JhengHei"/>
              </a:rPr>
              <a:t>災難復原：停 Engine 與 Web，於 SSMS 以 sysadmin 執行，挑時間較新的那份 .bak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074920"/>
            <a:ext cx="11183112" cy="1243584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12700">
            <a:solidFill>
              <a:srgbClr val="FFE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1755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8A6200"/>
                </a:solidFill>
                <a:latin typeface="Microsoft JhengHei"/>
              </a:rPr>
              <a:t>C. 運維邊界與風險窗口 — 自動化管不到的部分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551383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A6200"/>
                </a:solidFill>
                <a:latin typeface="Microsoft JhengHei"/>
              </a:rPr>
              <a:t>▪ </a:t>
            </a:r>
            <a:r>
              <a:rPr sz="1000" b="1">
                <a:solidFill>
                  <a:srgbClr val="212529"/>
                </a:solidFill>
                <a:latin typeface="Microsoft JhengHei"/>
              </a:rPr>
              <a:t>備份與 DB 同機同碟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760720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212529"/>
                </a:solidFill>
                <a:latin typeface="Microsoft JhengHei"/>
              </a:rPr>
              <a:t>只防「DB 損毀」，防不了磁碟故障。備份資料夾應另外納入 NAS / 異地定期外拷 — 此段系統未做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551383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A6200"/>
                </a:solidFill>
                <a:latin typeface="Microsoft JhengHei"/>
              </a:rPr>
              <a:t>▪ </a:t>
            </a:r>
            <a:r>
              <a:rPr sz="1000" b="1">
                <a:solidFill>
                  <a:srgbClr val="212529"/>
                </a:solidFill>
                <a:latin typeface="Microsoft JhengHei"/>
              </a:rPr>
              <a:t>寫檔的是 SQL 服務進程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21024" y="5760720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212529"/>
                </a:solidFill>
                <a:latin typeface="Microsoft JhengHei"/>
              </a:rPr>
              <a:t>資料夾權限授予的是 SQL 服務帳號而非 Engine 執行帳號；DB 在遠端時 BackupFolder 指的是「DB 那台」的磁碟路徑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2784" y="551383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A6200"/>
                </a:solidFill>
                <a:latin typeface="Microsoft JhengHei"/>
              </a:rPr>
              <a:t>▪ </a:t>
            </a:r>
            <a:r>
              <a:rPr sz="1000" b="1">
                <a:solidFill>
                  <a:srgbClr val="212529"/>
                </a:solidFill>
                <a:latin typeface="Microsoft JhengHei"/>
              </a:rPr>
              <a:t>只做每週完整備份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760720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212529"/>
                </a:solidFill>
                <a:latin typeface="Microsoft JhengHei"/>
              </a:rPr>
              <a:t>無交易記錄備份，DB 應維持 RECOVERY SIMPLE。資料遺失風險窗口最壞為 7 天；若機器在排程時間關機則延長至 14 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551383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A6200"/>
                </a:solidFill>
                <a:latin typeface="Microsoft JhengHei"/>
              </a:rPr>
              <a:t>▪ </a:t>
            </a:r>
            <a:r>
              <a:rPr sz="1000" b="1">
                <a:solidFill>
                  <a:srgbClr val="212529"/>
                </a:solidFill>
                <a:latin typeface="Microsoft JhengHei"/>
              </a:rPr>
              <a:t>要更密的備份頻率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576" y="5760720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212529"/>
                </a:solidFill>
                <a:latin typeface="Microsoft JhengHei"/>
              </a:rPr>
              <a:t>現有服務不支援日排程。可將 BackupTime 移到 Engine 確定在跑的時段，或另以 Windows 工作排程器加一份每日備份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1908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6C757D"/>
                </a:solidFill>
                <a:latin typeface="Microsoft JhengHei"/>
              </a:rPr>
              <a:t>來源：ScadaEngine.Engine/Data/Services/DatabaseBackupService.cs、DatabaseInitializationService.cs、Setting/DbMaintenanceSetting.json｜完整說明見 docs/功能說明書_資料庫自動建立與備份.md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